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defPPr lvl="0"/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CE496-6426-4095-B584-A6438C968989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3F3B39-DA35-4201-B86C-8892CCFA215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182880"/>
            <a:ext cx="384048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30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2194560" cy="38404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502920"/>
            <a:ext cx="219456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FFFFFF"/>
                </a:solidFill>
              </a:rPr>
              <a:t>GROUP </a:t>
            </a:r>
            <a:r>
              <a:rPr lang="en-US" sz="1000" b="1" dirty="0">
                <a:solidFill>
                  <a:srgbClr val="FFFFFF"/>
                </a:solidFill>
              </a:rPr>
              <a:t>#08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19" y="1143000"/>
            <a:ext cx="961511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Binary </a:t>
            </a:r>
            <a:r>
              <a:rPr lang="en-US" sz="36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Label Text Classification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9B7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Mental Health Text Analysis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4572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13990" y="3021497"/>
            <a:ext cx="4442791" cy="1818860"/>
          </a:xfrm>
          <a:prstGeom prst="rect">
            <a:avLst/>
          </a:prstGeom>
          <a:solidFill>
            <a:srgbClr val="1A2F45"/>
          </a:solidFill>
          <a:ln w="889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23000" y="3835905"/>
            <a:ext cx="3572124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/>
            <a:r>
              <a:rPr lang="en-US" sz="2000" dirty="0" err="1">
                <a:solidFill>
                  <a:schemeClr val="bg1"/>
                </a:solidFill>
              </a:rPr>
              <a:t>Anosha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Mohsin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dirty="0" err="1">
                <a:solidFill>
                  <a:schemeClr val="bg1"/>
                </a:solidFill>
              </a:rPr>
              <a:t>Hafiza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Alishba</a:t>
            </a:r>
            <a:r>
              <a:rPr lang="en-US" sz="2000" dirty="0">
                <a:solidFill>
                  <a:schemeClr val="bg1"/>
                </a:solidFill>
              </a:rPr>
              <a:t> Fareed</a:t>
            </a:r>
            <a:endParaRPr lang="en-US" sz="2000" dirty="0">
              <a:solidFill>
                <a:schemeClr val="bg1"/>
              </a:solidFill>
            </a:endParaRPr>
          </a:p>
          <a:p>
            <a:pPr algn="ctr"/>
            <a:r>
              <a:rPr lang="en-US" sz="2000" dirty="0">
                <a:solidFill>
                  <a:schemeClr val="bg1"/>
                </a:solidFill>
              </a:rPr>
              <a:t>Maryam Shaikh</a:t>
            </a:r>
            <a:endParaRPr lang="en-US" sz="2000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02920" y="344728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25" name="Rectangle 24"/>
          <p:cNvSpPr/>
          <p:nvPr/>
        </p:nvSpPr>
        <p:spPr>
          <a:xfrm>
            <a:off x="4596849" y="3438760"/>
            <a:ext cx="28127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25MSDS035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25MSDS008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25MSDS033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182880"/>
            <a:ext cx="384048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3000" dirty="0"/>
          </a:p>
        </p:txBody>
      </p:sp>
      <p:sp>
        <p:nvSpPr>
          <p:cNvPr id="7" name="Text 5"/>
          <p:cNvSpPr/>
          <p:nvPr/>
        </p:nvSpPr>
        <p:spPr>
          <a:xfrm>
            <a:off x="502919" y="1143000"/>
            <a:ext cx="9615115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Binary </a:t>
            </a:r>
            <a:r>
              <a:rPr lang="en-US" sz="36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Label Text Classification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 smtClean="0">
                <a:solidFill>
                  <a:srgbClr val="9B7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Mental Health Text Analysis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4572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4728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Shape 8"/>
          <p:cNvSpPr/>
          <p:nvPr/>
        </p:nvSpPr>
        <p:spPr>
          <a:xfrm>
            <a:off x="310896" y="3485139"/>
            <a:ext cx="1993392" cy="960120"/>
          </a:xfrm>
          <a:prstGeom prst="rect">
            <a:avLst/>
          </a:prstGeom>
          <a:solidFill>
            <a:srgbClr val="1A2F45"/>
          </a:solidFill>
          <a:ln w="889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9"/>
          <p:cNvSpPr/>
          <p:nvPr/>
        </p:nvSpPr>
        <p:spPr>
          <a:xfrm>
            <a:off x="310896" y="3530859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9B7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1,957</a:t>
            </a:r>
            <a:endParaRPr lang="en-US" sz="2200" dirty="0"/>
          </a:p>
        </p:txBody>
      </p:sp>
      <p:sp>
        <p:nvSpPr>
          <p:cNvPr id="17" name="Text 10"/>
          <p:cNvSpPr/>
          <p:nvPr/>
        </p:nvSpPr>
        <p:spPr>
          <a:xfrm>
            <a:off x="310896" y="4006347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Train Samples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2487168" y="3485139"/>
            <a:ext cx="1993392" cy="960120"/>
          </a:xfrm>
          <a:prstGeom prst="rect">
            <a:avLst/>
          </a:prstGeom>
          <a:solidFill>
            <a:srgbClr val="1A2F45"/>
          </a:solidFill>
          <a:ln w="889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2"/>
          <p:cNvSpPr/>
          <p:nvPr/>
        </p:nvSpPr>
        <p:spPr>
          <a:xfrm>
            <a:off x="2487168" y="3530859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9B7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653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2487168" y="4006347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Val / Test Each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4663440" y="3485139"/>
            <a:ext cx="1993392" cy="960120"/>
          </a:xfrm>
          <a:prstGeom prst="rect">
            <a:avLst/>
          </a:prstGeom>
          <a:solidFill>
            <a:srgbClr val="1A2F45"/>
          </a:solidFill>
          <a:ln w="889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5"/>
          <p:cNvSpPr/>
          <p:nvPr/>
        </p:nvSpPr>
        <p:spPr>
          <a:xfrm>
            <a:off x="4663440" y="3530859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9B7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5</a:t>
            </a:r>
            <a:endParaRPr lang="en-US" sz="2200" dirty="0"/>
          </a:p>
        </p:txBody>
      </p:sp>
      <p:sp>
        <p:nvSpPr>
          <p:cNvPr id="23" name="Text 16"/>
          <p:cNvSpPr/>
          <p:nvPr/>
        </p:nvSpPr>
        <p:spPr>
          <a:xfrm>
            <a:off x="4663440" y="4006347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Models Trained</a:t>
            </a:r>
            <a:endParaRPr lang="en-US" sz="950" dirty="0"/>
          </a:p>
        </p:txBody>
      </p:sp>
      <p:sp>
        <p:nvSpPr>
          <p:cNvPr id="24" name="Shape 17"/>
          <p:cNvSpPr/>
          <p:nvPr/>
        </p:nvSpPr>
        <p:spPr>
          <a:xfrm>
            <a:off x="6839712" y="3485139"/>
            <a:ext cx="1993392" cy="960120"/>
          </a:xfrm>
          <a:prstGeom prst="rect">
            <a:avLst/>
          </a:prstGeom>
          <a:solidFill>
            <a:srgbClr val="1A2F45"/>
          </a:solidFill>
          <a:ln w="889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18"/>
          <p:cNvSpPr/>
          <p:nvPr/>
        </p:nvSpPr>
        <p:spPr>
          <a:xfrm>
            <a:off x="6839712" y="3530859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200" b="1" dirty="0">
                <a:solidFill>
                  <a:srgbClr val="9B7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69.96%</a:t>
            </a:r>
            <a:endParaRPr lang="en-US" sz="2200" dirty="0"/>
          </a:p>
        </p:txBody>
      </p:sp>
      <p:sp>
        <p:nvSpPr>
          <p:cNvPr id="27" name="Text 19"/>
          <p:cNvSpPr/>
          <p:nvPr/>
        </p:nvSpPr>
        <p:spPr>
          <a:xfrm>
            <a:off x="6839712" y="4006347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Best Macro F1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Binary: Data, Preprocessing &amp; Features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4023360" cy="1965960"/>
          </a:xfrm>
          <a:prstGeom prst="rect">
            <a:avLst/>
          </a:prstGeom>
          <a:solidFill>
            <a:srgbClr val="1A2F45"/>
          </a:solidFill>
          <a:ln w="1270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77824"/>
            <a:ext cx="365760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Dataset Splits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261872"/>
            <a:ext cx="91440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6187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Train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08760" y="1298448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ADE"/>
                </a:solidFill>
              </a:rPr>
              <a:t>1,957 samples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00784"/>
            <a:ext cx="914400" cy="2926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00784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Validation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ADE"/>
                </a:solidFill>
              </a:rPr>
              <a:t>653 samples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39696"/>
            <a:ext cx="91440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39696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Test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08760" y="2176272"/>
            <a:ext cx="274320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ADE"/>
                </a:solidFill>
              </a:rPr>
              <a:t>653 samples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22960"/>
            <a:ext cx="4114800" cy="1965960"/>
          </a:xfrm>
          <a:prstGeom prst="rect">
            <a:avLst/>
          </a:prstGeom>
          <a:solidFill>
            <a:srgbClr val="1A2F45"/>
          </a:solidFill>
          <a:ln w="12700">
            <a:solidFill>
              <a:srgbClr val="FFB80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77824"/>
            <a:ext cx="37490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800"/>
                </a:solidFill>
              </a:rPr>
              <a:t>Class Distribution (Train)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298448"/>
            <a:ext cx="777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ADE"/>
                </a:solidFill>
              </a:rPr>
              <a:t>Label 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577840" y="1353312"/>
            <a:ext cx="2286000" cy="20116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353312"/>
            <a:ext cx="1812798" cy="20116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1298448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1551  (79.3%)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54880" y="1847088"/>
            <a:ext cx="7772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ADE"/>
                </a:solidFill>
              </a:rPr>
              <a:t>Label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1901952"/>
            <a:ext cx="2286000" cy="20116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77840" y="1901952"/>
            <a:ext cx="473202" cy="20116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0" y="1847088"/>
            <a:ext cx="82296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406  (20.7%)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395728"/>
            <a:ext cx="3840480" cy="256032"/>
          </a:xfrm>
          <a:prstGeom prst="rect">
            <a:avLst/>
          </a:prstGeom>
          <a:solidFill>
            <a:srgbClr val="2A1818"/>
          </a:solidFill>
          <a:ln w="6350">
            <a:solidFill>
              <a:srgbClr val="FF6B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2404872"/>
            <a:ext cx="374904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</a:rPr>
              <a:t>⚠ 79.3% vs 20.7% imbalance — SMOTE required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2926080"/>
            <a:ext cx="8412480" cy="1920240"/>
          </a:xfrm>
          <a:prstGeom prst="rect">
            <a:avLst/>
          </a:prstGeom>
          <a:solidFill>
            <a:srgbClr val="112030"/>
          </a:solidFill>
          <a:ln w="1270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2990088"/>
            <a:ext cx="786384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2FF"/>
                </a:solidFill>
              </a:rPr>
              <a:t>Preprocessing  →  TF-IDF  →  SMOTE Oversampling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3383280"/>
            <a:ext cx="237744" cy="237744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0392" y="3383280"/>
            <a:ext cx="12984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Lowercase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194560" y="3383280"/>
            <a:ext cx="237744" cy="237744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96312" y="3383280"/>
            <a:ext cx="12984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Remove URLs/HTML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840480" y="3383280"/>
            <a:ext cx="237744" cy="237744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42232" y="3383280"/>
            <a:ext cx="12984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Strip punct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0" y="3383280"/>
            <a:ext cx="237744" cy="237744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88152" y="3383280"/>
            <a:ext cx="12984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Remove digits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132320" y="3383280"/>
            <a:ext cx="237744" cy="237744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34072" y="3383280"/>
            <a:ext cx="1298448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Trim whitespace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8640" y="3721608"/>
            <a:ext cx="8229600" cy="36576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3813048"/>
            <a:ext cx="1938528" cy="886968"/>
          </a:xfrm>
          <a:prstGeom prst="rect">
            <a:avLst/>
          </a:prstGeom>
          <a:solidFill>
            <a:srgbClr val="1A2F45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31336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</a:rPr>
              <a:t>TF-IDF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66928" y="4114800"/>
            <a:ext cx="1810512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5,000 features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(1,2)-</a:t>
            </a:r>
            <a:r>
              <a:rPr lang="en-US" sz="850" dirty="0" smtClean="0">
                <a:solidFill>
                  <a:srgbClr val="B0CADE"/>
                </a:solidFill>
              </a:rPr>
              <a:t>gram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587752" y="3813048"/>
            <a:ext cx="1938528" cy="886968"/>
          </a:xfrm>
          <a:prstGeom prst="rect">
            <a:avLst/>
          </a:prstGeom>
          <a:solidFill>
            <a:srgbClr val="1A2F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587752" y="3831336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</a:rPr>
              <a:t>SMOTE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651760" y="4114800"/>
            <a:ext cx="1810512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Label 0: 1,551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Label 1: 1,551 (balanced)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72584" y="3813048"/>
            <a:ext cx="1938528" cy="886968"/>
          </a:xfrm>
          <a:prstGeom prst="rect">
            <a:avLst/>
          </a:prstGeom>
          <a:solidFill>
            <a:srgbClr val="1A2F45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72584" y="3831336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</a:rPr>
              <a:t>Class Weights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4736592" y="4114800"/>
            <a:ext cx="1810512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Label 0: 0.631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Label 1: 2.410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57416" y="3813048"/>
            <a:ext cx="1938528" cy="886968"/>
          </a:xfrm>
          <a:prstGeom prst="rect">
            <a:avLst/>
          </a:prstGeom>
          <a:solidFill>
            <a:srgbClr val="1A2F45"/>
          </a:solidFill>
          <a:ln w="10160">
            <a:solidFill>
              <a:srgbClr val="9B72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57416" y="3831336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72FF"/>
                </a:solidFill>
              </a:rPr>
              <a:t>DL Tokens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821424" y="4114800"/>
            <a:ext cx="1810512" cy="54864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10,000 vocab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MAXLEN=200, Embed 100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Binary Classification — Model Results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365760" y="1411746"/>
            <a:ext cx="5394960" cy="301752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29768" y="1430034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Rank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05840" y="1430034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Model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37560" y="1430034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F1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0" y="1430034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Acc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19472" y="1430034"/>
            <a:ext cx="10972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Tag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0074"/>
            <a:ext cx="5394960" cy="365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750074"/>
            <a:ext cx="64008" cy="36576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750074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</a:rPr>
              <a:t>#1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175007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Logistic Regression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337560" y="1750074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E5A0"/>
                </a:solidFill>
              </a:rPr>
              <a:t>0.6996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114800" y="1750074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ADE"/>
                </a:solidFill>
              </a:rPr>
              <a:t>0.7810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937760" y="1814082"/>
            <a:ext cx="777240" cy="2286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814082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0D1B2A"/>
                </a:solidFill>
              </a:rPr>
              <a:t>Top1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152410"/>
            <a:ext cx="5394960" cy="36576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152410"/>
            <a:ext cx="64008" cy="36576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152410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C2FF"/>
                </a:solidFill>
              </a:rPr>
              <a:t>#2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05840" y="215241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Linear SVM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337560" y="2152410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C2FF"/>
                </a:solidFill>
              </a:rPr>
              <a:t>0.6878</a:t>
            </a: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114800" y="2152410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B0CADE"/>
                </a:solidFill>
              </a:rPr>
              <a:t>0.7902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937760" y="2216418"/>
            <a:ext cx="777240" cy="2286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216418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0D1B2A"/>
                </a:solidFill>
              </a:rPr>
              <a:t>Top2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2554746"/>
            <a:ext cx="5394960" cy="365760"/>
          </a:xfrm>
          <a:prstGeom prst="rect">
            <a:avLst/>
          </a:prstGeom>
          <a:solidFill>
            <a:srgbClr val="1A2F3E"/>
          </a:solidFill>
          <a:ln w="12700">
            <a:solidFill>
              <a:srgbClr val="1A2F3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554746"/>
            <a:ext cx="64008" cy="365760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" y="2554746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72FF"/>
                </a:solidFill>
              </a:rPr>
              <a:t>#3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255474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LSTM (BiLSTM)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2554746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B72FF"/>
                </a:solidFill>
              </a:rPr>
              <a:t>0.6782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114800" y="2554746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ADE"/>
                </a:solidFill>
              </a:rPr>
              <a:t>0.8270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37760" y="2618754"/>
            <a:ext cx="777240" cy="228600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37760" y="261875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 smtClean="0">
                <a:solidFill>
                  <a:srgbClr val="0D1B2A"/>
                </a:solidFill>
              </a:rPr>
              <a:t>Top3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957082"/>
            <a:ext cx="5394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5488" y="2957082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ADE"/>
                </a:solidFill>
              </a:rPr>
              <a:t>#4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05840" y="295708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ADE"/>
                </a:solidFill>
              </a:rPr>
              <a:t>XGBoost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337560" y="2957082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ADE"/>
                </a:solidFill>
              </a:rPr>
              <a:t>0.6294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114800" y="2957082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ADE"/>
                </a:solidFill>
              </a:rPr>
              <a:t>0.7871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65760" y="3359418"/>
            <a:ext cx="539496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" y="3359418"/>
            <a:ext cx="5029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E7F9A"/>
                </a:solidFill>
              </a:rPr>
              <a:t>#5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05840" y="335941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ADE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337560" y="3359418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E7F9A"/>
                </a:solidFill>
              </a:rPr>
              <a:t>0.5686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114800" y="3359418"/>
            <a:ext cx="74980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ADE"/>
                </a:solidFill>
              </a:rPr>
              <a:t>0.7902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6035040" y="1411746"/>
            <a:ext cx="2788920" cy="2386584"/>
          </a:xfrm>
          <a:prstGeom prst="rect">
            <a:avLst/>
          </a:prstGeom>
          <a:solidFill>
            <a:srgbClr val="1A2F45"/>
          </a:solidFill>
          <a:ln w="1270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6172200" y="1466610"/>
            <a:ext cx="2560320" cy="29260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A0"/>
                </a:solidFill>
              </a:rPr>
              <a:t>Best: Logistic Regression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172200" y="1786650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B800"/>
                </a:solidFill>
              </a:rPr>
              <a:t>Macro F1 = 0.6996  •  Acc = 0.7810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72200" y="2097546"/>
            <a:ext cx="256032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CADE"/>
                </a:solidFill>
              </a:rPr>
              <a:t>Per-Class Performance: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03720" y="2371866"/>
            <a:ext cx="53949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7F9A"/>
                </a:solidFill>
              </a:rPr>
              <a:t>Prec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470648" y="2371866"/>
            <a:ext cx="53949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7F9A"/>
                </a:solidFill>
              </a:rPr>
              <a:t>Rec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8037576" y="2371866"/>
            <a:ext cx="539496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5E7F9A"/>
                </a:solidFill>
              </a:rPr>
              <a:t>F1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08192" y="2627898"/>
            <a:ext cx="2633472" cy="457200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53912" y="2719338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FF"/>
                </a:solidFill>
              </a:rPr>
              <a:t>Class 0 (518)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903720" y="2719338"/>
            <a:ext cx="539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A0"/>
                </a:solidFill>
              </a:rPr>
              <a:t>0.890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70648" y="2719338"/>
            <a:ext cx="539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A0"/>
                </a:solidFill>
              </a:rPr>
              <a:t>0.820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037576" y="2719338"/>
            <a:ext cx="539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E5A0"/>
                </a:solidFill>
              </a:rPr>
              <a:t>0.860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108192" y="3158250"/>
            <a:ext cx="2633472" cy="4572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53912" y="3249690"/>
            <a:ext cx="13716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6B6B"/>
                </a:solidFill>
              </a:rPr>
              <a:t>Class 1 (135)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903720" y="3249690"/>
            <a:ext cx="539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6B6B"/>
                </a:solidFill>
              </a:rPr>
              <a:t>0.480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470648" y="3249690"/>
            <a:ext cx="539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0.630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037576" y="3249690"/>
            <a:ext cx="539496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B800"/>
                </a:solidFill>
              </a:rPr>
              <a:t>0.540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6172200" y="3798330"/>
            <a:ext cx="246888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172200" y="3456432"/>
            <a:ext cx="24688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365760" y="4818888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Confusion Matrices — Top </a:t>
            </a:r>
            <a:r>
              <a:rPr lang="en-US" sz="26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206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777240"/>
            <a:ext cx="4114800" cy="4206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91" name="Picture 9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645" y="1157857"/>
            <a:ext cx="3849589" cy="3426718"/>
          </a:xfrm>
          <a:prstGeom prst="rect">
            <a:avLst/>
          </a:prstGeom>
        </p:spPr>
      </p:pic>
      <p:pic>
        <p:nvPicPr>
          <p:cNvPr id="92" name="Picture 9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955" y="1166901"/>
            <a:ext cx="3829268" cy="34086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42233"/>
          </a:solidFill>
          <a:ln w="12700">
            <a:solidFill>
              <a:srgbClr val="142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56032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685800"/>
            <a:ext cx="292608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0E5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Summary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1170432"/>
            <a:ext cx="292608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40407"/>
            <a:ext cx="2286000" cy="36576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987425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5A0"/>
                </a:solidFill>
                <a:latin typeface="Arial Black" panose="020B0A04020102020204" pitchFamily="34" charset="0"/>
              </a:rPr>
              <a:t>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2426337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Total Models</a:t>
            </a:r>
            <a:endParaRPr lang="en-US" sz="950" dirty="0"/>
          </a:p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20040" y="2792097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" y="2406072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0040" y="2771832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5A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0.70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0040" y="3210744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Peak Binary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Macro F1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049737"/>
            <a:ext cx="283464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320040" y="3488649"/>
            <a:ext cx="28346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49040" y="201168"/>
            <a:ext cx="502920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Binary Task Submissions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749040" y="658368"/>
            <a:ext cx="5029200" cy="438912"/>
          </a:xfrm>
          <a:prstGeom prst="rect">
            <a:avLst/>
          </a:prstGeom>
          <a:solidFill>
            <a:srgbClr val="1A2F45"/>
          </a:solidFill>
          <a:ln w="1016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749040" y="658368"/>
            <a:ext cx="64008" cy="43891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0480" y="749808"/>
            <a:ext cx="914400" cy="25603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0" y="74980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Attempt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28032" y="658368"/>
            <a:ext cx="2560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Logistic Regression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65836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E5A0"/>
                </a:solidFill>
              </a:rPr>
              <a:t>F1: 0.6996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749040" y="1161288"/>
            <a:ext cx="5029200" cy="438912"/>
          </a:xfrm>
          <a:prstGeom prst="rect">
            <a:avLst/>
          </a:prstGeom>
          <a:solidFill>
            <a:srgbClr val="1A2F45"/>
          </a:solidFill>
          <a:ln w="1016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1161288"/>
            <a:ext cx="64008" cy="43891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0" y="1252728"/>
            <a:ext cx="914400" cy="25603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125272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Attempt 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28032" y="1161288"/>
            <a:ext cx="2560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Linear SVM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116128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2FF"/>
                </a:solidFill>
              </a:rPr>
              <a:t>F1: 0.6878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749040" y="1664208"/>
            <a:ext cx="5029200" cy="438912"/>
          </a:xfrm>
          <a:prstGeom prst="rect">
            <a:avLst/>
          </a:prstGeom>
          <a:solidFill>
            <a:srgbClr val="1A2F45"/>
          </a:solidFill>
          <a:ln w="1016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749040" y="1664208"/>
            <a:ext cx="64008" cy="438912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840480" y="1755648"/>
            <a:ext cx="914400" cy="256032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40480" y="1755648"/>
            <a:ext cx="914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</a:rPr>
              <a:t>Attempt 3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28032" y="1664208"/>
            <a:ext cx="256032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 (BiLSTM)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406640" y="1664208"/>
            <a:ext cx="1280160" cy="43891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B72FF"/>
                </a:solidFill>
              </a:rPr>
              <a:t>F1: 0.6782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794760" y="2231136"/>
            <a:ext cx="4937760" cy="2194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749040" y="2578608"/>
            <a:ext cx="502920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Findings — Binary Task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749040" y="2944368"/>
            <a:ext cx="5029200" cy="438912"/>
          </a:xfrm>
          <a:prstGeom prst="rect">
            <a:avLst/>
          </a:prstGeom>
          <a:solidFill>
            <a:srgbClr val="1A2F45"/>
          </a:solidFill>
          <a:ln w="762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749040" y="2944368"/>
            <a:ext cx="64008" cy="43891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840480" y="2944368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A0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178808" y="2944368"/>
            <a:ext cx="4526280" cy="43891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ADE"/>
                </a:solidFill>
              </a:rPr>
              <a:t>LR again tops all models — fast, balanced, reliable for text classification regardless of task type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749040" y="3447288"/>
            <a:ext cx="5029200" cy="438912"/>
          </a:xfrm>
          <a:prstGeom prst="rect">
            <a:avLst/>
          </a:prstGeom>
          <a:solidFill>
            <a:srgbClr val="1A2F45"/>
          </a:solidFill>
          <a:ln w="762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749040" y="3447288"/>
            <a:ext cx="64008" cy="43891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3447288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FF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178808" y="3447288"/>
            <a:ext cx="4526280" cy="43891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ADE"/>
                </a:solidFill>
              </a:rPr>
              <a:t>SMOTE produced perfectly balanced training (1,551 vs 1,551) and helped minority class recall significantly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3749040" y="3950208"/>
            <a:ext cx="5029200" cy="438912"/>
          </a:xfrm>
          <a:prstGeom prst="rect">
            <a:avLst/>
          </a:prstGeom>
          <a:solidFill>
            <a:srgbClr val="1A2F45"/>
          </a:solidFill>
          <a:ln w="762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3749040" y="3950208"/>
            <a:ext cx="64008" cy="438912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40480" y="3950208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72FF"/>
                </a:solidFill>
              </a:rPr>
              <a:t>✓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178808" y="3950208"/>
            <a:ext cx="4526280" cy="43891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ADE"/>
                </a:solidFill>
              </a:rPr>
              <a:t>LSTM reached F1=0.678 — the only DL model that worked well, benefiting from larger effective training set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749040" y="4453128"/>
            <a:ext cx="5029200" cy="438912"/>
          </a:xfrm>
          <a:prstGeom prst="rect">
            <a:avLst/>
          </a:prstGeom>
          <a:solidFill>
            <a:srgbClr val="1A2F45"/>
          </a:solidFill>
          <a:ln w="7620">
            <a:solidFill>
              <a:srgbClr val="FF6B6B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3749040" y="4453128"/>
            <a:ext cx="64008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0" y="4453128"/>
            <a:ext cx="3200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⚠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178808" y="4453128"/>
            <a:ext cx="4526280" cy="43891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0CADE"/>
                </a:solidFill>
              </a:rPr>
              <a:t>Random Forest (F1=0.57) lagged despite SMOTE — decision boundaries are too coarse for high-dim TF-IDF space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182880"/>
            <a:ext cx="384048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3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Multi-Label </a:t>
            </a:r>
            <a:r>
              <a:rPr lang="en-US" sz="4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Text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02920" y="1920240"/>
            <a:ext cx="77724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 smtClean="0">
                <a:solidFill>
                  <a:srgbClr val="00C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Classification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502920" y="2788920"/>
            <a:ext cx="4572000" cy="4572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971800"/>
            <a:ext cx="1993392" cy="960120"/>
          </a:xfrm>
          <a:prstGeom prst="rect">
            <a:avLst/>
          </a:prstGeom>
          <a:solidFill>
            <a:srgbClr val="1A2F45"/>
          </a:solidFill>
          <a:ln w="889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3017520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2,131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Train Samples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679192" y="2971800"/>
            <a:ext cx="1993392" cy="960120"/>
          </a:xfrm>
          <a:prstGeom prst="rect">
            <a:avLst/>
          </a:prstGeom>
          <a:solidFill>
            <a:srgbClr val="1A2F45"/>
          </a:solidFill>
          <a:ln w="889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679192" y="3017520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711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679192" y="349300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Val / Test Each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855464" y="2971800"/>
            <a:ext cx="1993392" cy="960120"/>
          </a:xfrm>
          <a:prstGeom prst="rect">
            <a:avLst/>
          </a:prstGeom>
          <a:solidFill>
            <a:srgbClr val="1A2F45"/>
          </a:solidFill>
          <a:ln w="889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55464" y="3017520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FF"/>
                </a:solidFill>
                <a:latin typeface="Arial Black" panose="020B0A04020102020204" pitchFamily="34" charset="0"/>
              </a:rPr>
              <a:t>9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4855464" y="349300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Models Trained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31736" y="2971800"/>
            <a:ext cx="1993392" cy="960120"/>
          </a:xfrm>
          <a:prstGeom prst="rect">
            <a:avLst/>
          </a:prstGeom>
          <a:solidFill>
            <a:srgbClr val="1A2F45"/>
          </a:solidFill>
          <a:ln w="889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031736" y="3017520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C2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45.6%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31736" y="3493008"/>
            <a:ext cx="1993392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0CADE"/>
                </a:solidFill>
              </a:rPr>
              <a:t>Best Macro F1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8229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E7F9A"/>
                </a:solidFill>
              </a:rPr>
              <a:t>Task: Predict label (0/1/2/3) from free-text posts  •  Metric: Macro F1 Score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Dataset &amp; Preprocessing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4023360" cy="1901952"/>
          </a:xfrm>
          <a:prstGeom prst="rect">
            <a:avLst/>
          </a:prstGeom>
          <a:solidFill>
            <a:srgbClr val="1A2F45"/>
          </a:solidFill>
          <a:ln w="1270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896112"/>
            <a:ext cx="365760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</a:rPr>
              <a:t>Dataset Splits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914400" cy="292608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98448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Train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508760" y="1335024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ADE"/>
                </a:solidFill>
              </a:rPr>
              <a:t>2,131 samples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914400" cy="2926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737360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Validation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508760" y="1773936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ADE"/>
                </a:solidFill>
              </a:rPr>
              <a:t>711 samples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02920" y="2176272"/>
            <a:ext cx="914400" cy="2926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176272"/>
            <a:ext cx="9144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2A"/>
                </a:solidFill>
              </a:rPr>
              <a:t>Test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508760" y="2212848"/>
            <a:ext cx="2651760" cy="23774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ADE"/>
                </a:solidFill>
              </a:rPr>
              <a:t>711 samples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841248"/>
            <a:ext cx="4114800" cy="1901952"/>
          </a:xfrm>
          <a:prstGeom prst="rect">
            <a:avLst/>
          </a:prstGeom>
          <a:solidFill>
            <a:srgbClr val="1A2F45"/>
          </a:solidFill>
          <a:ln w="12700">
            <a:solidFill>
              <a:srgbClr val="FFB80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00600" y="896112"/>
            <a:ext cx="374904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Label Distribution (Train)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280160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Label 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32120" y="1325880"/>
            <a:ext cx="2286000" cy="182880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32120" y="1325880"/>
            <a:ext cx="1664208" cy="18288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63840" y="1280160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1551  (72.8%)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0" y="1682496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Label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32120" y="1728216"/>
            <a:ext cx="2286000" cy="182880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32120" y="1728216"/>
            <a:ext cx="187452" cy="18288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63840" y="1682496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174  (8.2%)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2084832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Label 2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532120" y="2130552"/>
            <a:ext cx="2286000" cy="182880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32120" y="2130552"/>
            <a:ext cx="253746" cy="18288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2084832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236  (11.1%)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2487168"/>
            <a:ext cx="7315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Label 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32120" y="2532888"/>
            <a:ext cx="2286000" cy="182880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532120" y="2532888"/>
            <a:ext cx="182880" cy="182880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863840" y="2487168"/>
            <a:ext cx="8229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170  (8%)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138774"/>
            <a:ext cx="8412480" cy="1965960"/>
          </a:xfrm>
          <a:prstGeom prst="rect">
            <a:avLst/>
          </a:prstGeom>
          <a:solidFill>
            <a:srgbClr val="112030"/>
          </a:solidFill>
          <a:ln w="1270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48640" y="3202782"/>
            <a:ext cx="7955280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2FF"/>
                </a:solidFill>
              </a:rPr>
              <a:t>Preprocessing  →  Feature Engineering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614262"/>
            <a:ext cx="256032" cy="256032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3614262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Lowercase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12848" y="3614262"/>
            <a:ext cx="256032" cy="256032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32888" y="3614262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Remove URLs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877056" y="3614262"/>
            <a:ext cx="256032" cy="256032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97096" y="3614262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NUM token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41264" y="3614262"/>
            <a:ext cx="256032" cy="256032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61304" y="3614262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Strip punct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205472" y="3614262"/>
            <a:ext cx="256032" cy="256032"/>
          </a:xfrm>
          <a:prstGeom prst="ellipse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25512" y="3614262"/>
            <a:ext cx="1298448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ADE"/>
                </a:solidFill>
              </a:rPr>
              <a:t>Trim spaces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4025742"/>
            <a:ext cx="8229600" cy="36576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2920" y="4117182"/>
            <a:ext cx="1938528" cy="841248"/>
          </a:xfrm>
          <a:prstGeom prst="rect">
            <a:avLst/>
          </a:prstGeom>
          <a:solidFill>
            <a:srgbClr val="1A2F45"/>
          </a:solidFill>
          <a:ln w="10160">
            <a:solidFill>
              <a:srgbClr val="00C2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413547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FF"/>
                </a:solidFill>
              </a:rPr>
              <a:t>Word TF-IDF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66928" y="4409790"/>
            <a:ext cx="1810512" cy="5029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20K feat, (1,2)-gram</a:t>
            </a:r>
            <a:endParaRPr lang="en-US" sz="850" dirty="0"/>
          </a:p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587752" y="4107243"/>
            <a:ext cx="1938528" cy="841248"/>
          </a:xfrm>
          <a:prstGeom prst="rect">
            <a:avLst/>
          </a:prstGeom>
          <a:solidFill>
            <a:srgbClr val="1A2F45"/>
          </a:solidFill>
          <a:ln w="10160">
            <a:solidFill>
              <a:srgbClr val="FFB8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587752" y="413547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B800"/>
                </a:solidFill>
              </a:rPr>
              <a:t>Char TF-IDF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441448" y="4409790"/>
            <a:ext cx="2020824" cy="5029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15K feat, </a:t>
            </a:r>
            <a:r>
              <a:rPr lang="en-US" sz="850" dirty="0"/>
              <a:t> </a:t>
            </a:r>
            <a:r>
              <a:rPr lang="en-US" sz="850" dirty="0" smtClean="0">
                <a:solidFill>
                  <a:srgbClr val="B0CADE"/>
                </a:solidFill>
              </a:rPr>
              <a:t>(</a:t>
            </a:r>
            <a:r>
              <a:rPr lang="en-US" sz="850" dirty="0">
                <a:solidFill>
                  <a:srgbClr val="B0CADE"/>
                </a:solidFill>
              </a:rPr>
              <a:t>3,5)-</a:t>
            </a:r>
            <a:r>
              <a:rPr lang="en-US" sz="850" dirty="0" smtClean="0">
                <a:solidFill>
                  <a:srgbClr val="B0CADE"/>
                </a:solidFill>
              </a:rPr>
              <a:t>gram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672584" y="4117182"/>
            <a:ext cx="1938528" cy="841248"/>
          </a:xfrm>
          <a:prstGeom prst="rect">
            <a:avLst/>
          </a:prstGeom>
          <a:solidFill>
            <a:srgbClr val="1A2F45"/>
          </a:solidFill>
          <a:ln w="10160">
            <a:solidFill>
              <a:srgbClr val="00E5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672584" y="413547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E5A0"/>
                </a:solidFill>
              </a:rPr>
              <a:t>Combined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736592" y="4360095"/>
            <a:ext cx="1810512" cy="5029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algn="ctr"/>
            <a:r>
              <a:rPr lang="en-US" sz="850" dirty="0">
                <a:solidFill>
                  <a:srgbClr val="B0CADE"/>
                </a:solidFill>
              </a:rPr>
              <a:t>Combining </a:t>
            </a:r>
            <a:r>
              <a:rPr lang="en-US" sz="850" dirty="0">
                <a:solidFill>
                  <a:srgbClr val="B0CADE"/>
                </a:solidFill>
              </a:rPr>
              <a:t>word-level (1-2 grams) and character-level (3-5 grams) TF-IDF captures both semantic and morphological patterns in text</a:t>
            </a:r>
            <a:r>
              <a:rPr lang="en-US" sz="900" dirty="0">
                <a:solidFill>
                  <a:schemeClr val="bg1"/>
                </a:solidFill>
              </a:rPr>
              <a:t>.</a:t>
            </a:r>
            <a:endParaRPr lang="en-US" sz="900" dirty="0">
              <a:solidFill>
                <a:schemeClr val="bg1"/>
              </a:solidFill>
            </a:endParaRPr>
          </a:p>
          <a:p>
            <a:pPr algn="ctr"/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757416" y="4117182"/>
            <a:ext cx="1938528" cy="841248"/>
          </a:xfrm>
          <a:prstGeom prst="rect">
            <a:avLst/>
          </a:prstGeom>
          <a:solidFill>
            <a:srgbClr val="1A2F45"/>
          </a:solidFill>
          <a:ln w="10160">
            <a:solidFill>
              <a:srgbClr val="9B72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57416" y="4135470"/>
            <a:ext cx="193852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B72FF"/>
                </a:solidFill>
              </a:rPr>
              <a:t>Dense (DL)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6821424" y="4409790"/>
            <a:ext cx="1810512" cy="502920"/>
          </a:xfrm>
          <a:prstGeom prst="rect">
            <a:avLst/>
          </a:prstGeom>
          <a:noFill/>
        </p:spPr>
        <p:txBody>
          <a:bodyPr wrap="square" lIns="25400" tIns="25400" rIns="25400" bIns="2540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5K feat, 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B0CADE"/>
                </a:solidFill>
              </a:rPr>
              <a:t>for MLP input</a:t>
            </a:r>
            <a:endParaRPr lang="en-US" sz="850" dirty="0"/>
          </a:p>
        </p:txBody>
      </p:sp>
      <p:sp>
        <p:nvSpPr>
          <p:cNvPr id="58" name="Text 79"/>
          <p:cNvSpPr/>
          <p:nvPr/>
        </p:nvSpPr>
        <p:spPr>
          <a:xfrm>
            <a:off x="316807" y="2761804"/>
            <a:ext cx="8412480" cy="256032"/>
          </a:xfrm>
          <a:prstGeom prst="rect">
            <a:avLst/>
          </a:prstGeom>
          <a:noFill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i="1" dirty="0">
                <a:solidFill>
                  <a:srgbClr val="FFB800"/>
                </a:solidFill>
              </a:rPr>
              <a:t>⚠ Class imbalance: Label 0 = 72.8% of train data → minority classes (1,2,3) are harder to predict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Model </a:t>
            </a: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5212080" cy="301752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795528"/>
            <a:ext cx="50292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</a:rPr>
              <a:t>Rank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960120" y="795528"/>
            <a:ext cx="22860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B800"/>
                </a:solidFill>
              </a:rPr>
              <a:t>Model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91840" y="795528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800"/>
                </a:solidFill>
              </a:rPr>
              <a:t>Macro F1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795528"/>
            <a:ext cx="77724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800"/>
                </a:solidFill>
              </a:rPr>
              <a:t>Tag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115568"/>
            <a:ext cx="5212080" cy="3200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15568"/>
            <a:ext cx="64008" cy="32004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" y="111556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#1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11556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LR (C=1)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91840" y="111556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E5A0"/>
                </a:solidFill>
              </a:rPr>
              <a:t>0.4556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73168" y="1161288"/>
            <a:ext cx="777240" cy="228600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73168" y="1161288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smtClean="0">
                <a:solidFill>
                  <a:srgbClr val="0D1B2A"/>
                </a:solidFill>
              </a:rPr>
              <a:t>Top1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65760" y="1472184"/>
            <a:ext cx="5212080" cy="32004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1472184"/>
            <a:ext cx="64008" cy="32004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147218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FF"/>
                </a:solidFill>
              </a:rPr>
              <a:t>#2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147218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chemeClr val="bg1"/>
                </a:solidFill>
              </a:rPr>
              <a:t>Linear SVM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91840" y="147218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smtClean="0">
                <a:solidFill>
                  <a:srgbClr val="00C2FF"/>
                </a:solidFill>
              </a:rPr>
              <a:t>0.4267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73168" y="1517904"/>
            <a:ext cx="777240" cy="228600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73168" y="1517904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 smtClean="0">
                <a:solidFill>
                  <a:srgbClr val="0D1B2A"/>
                </a:solidFill>
              </a:rPr>
              <a:t>Top2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1828800"/>
            <a:ext cx="5212080" cy="320040"/>
          </a:xfrm>
          <a:prstGeom prst="rect">
            <a:avLst/>
          </a:prstGeom>
          <a:solidFill>
            <a:srgbClr val="1A2F3E"/>
          </a:solidFill>
          <a:ln w="12700">
            <a:solidFill>
              <a:srgbClr val="1A2F3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182880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B800"/>
                </a:solidFill>
              </a:rPr>
              <a:t>#3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960120" y="182880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chemeClr val="bg1"/>
                </a:solidFill>
              </a:rPr>
              <a:t>LightGBM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3291840" y="182880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rgbClr val="FFB800"/>
                </a:solidFill>
              </a:rPr>
              <a:t>0.4053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3168" y="1874520"/>
            <a:ext cx="777240" cy="228600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874520"/>
            <a:ext cx="7772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2A"/>
                </a:solidFill>
              </a:rPr>
              <a:t>TOP 3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75699" y="3255264"/>
            <a:ext cx="52120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5488" y="222160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chemeClr val="bg1"/>
                </a:solidFill>
              </a:rPr>
              <a:t>#4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960120" y="222160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XGBoost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3291840" y="222160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0.3024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365760" y="3611880"/>
            <a:ext cx="52120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" y="2578224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chemeClr val="bg1"/>
                </a:solidFill>
              </a:rPr>
              <a:t>#5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7" name="Text 45"/>
          <p:cNvSpPr/>
          <p:nvPr/>
        </p:nvSpPr>
        <p:spPr>
          <a:xfrm>
            <a:off x="960120" y="2578224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Complement NB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48" name="Text 46"/>
          <p:cNvSpPr/>
          <p:nvPr/>
        </p:nvSpPr>
        <p:spPr>
          <a:xfrm>
            <a:off x="3291840" y="2578224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0.2968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49" name="Shape 47"/>
          <p:cNvSpPr/>
          <p:nvPr/>
        </p:nvSpPr>
        <p:spPr>
          <a:xfrm>
            <a:off x="365760" y="3968496"/>
            <a:ext cx="5212080" cy="320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" y="2934840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chemeClr val="bg1"/>
                </a:solidFill>
              </a:rPr>
              <a:t>#6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1" name="Text 49"/>
          <p:cNvSpPr/>
          <p:nvPr/>
        </p:nvSpPr>
        <p:spPr>
          <a:xfrm>
            <a:off x="960120" y="2934840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</a:rPr>
              <a:t>Random Forest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52" name="Text 50"/>
          <p:cNvSpPr/>
          <p:nvPr/>
        </p:nvSpPr>
        <p:spPr>
          <a:xfrm>
            <a:off x="3291840" y="2934840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chemeClr val="bg1"/>
                </a:solidFill>
              </a:rPr>
              <a:t>0.2194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852160" y="777240"/>
            <a:ext cx="2926080" cy="4069080"/>
          </a:xfrm>
          <a:prstGeom prst="rect">
            <a:avLst/>
          </a:prstGeom>
          <a:solidFill>
            <a:srgbClr val="1A2F45"/>
          </a:solidFill>
          <a:ln w="1270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4" name="Text 52"/>
          <p:cNvSpPr/>
          <p:nvPr/>
        </p:nvSpPr>
        <p:spPr>
          <a:xfrm>
            <a:off x="5989320" y="822960"/>
            <a:ext cx="265176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A0"/>
                </a:solidFill>
              </a:rPr>
              <a:t>Best Model: LR (C=1)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5989320" y="1143000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800"/>
                </a:solidFill>
              </a:rPr>
              <a:t>Macro F1 = 0.4556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989320" y="1463040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CADE"/>
                </a:solidFill>
              </a:rPr>
              <a:t>Per-class Performance: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675120" y="1755648"/>
            <a:ext cx="594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7F9A"/>
                </a:solidFill>
              </a:rPr>
              <a:t>Prec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296912" y="1755648"/>
            <a:ext cx="594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7F9A"/>
                </a:solidFill>
              </a:rPr>
              <a:t>Rec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7918704" y="1755648"/>
            <a:ext cx="5943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5E7F9A"/>
                </a:solidFill>
              </a:rPr>
              <a:t>F1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5943600" y="2011680"/>
            <a:ext cx="2743200" cy="411480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89320" y="2084832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0C2FF"/>
                </a:solidFill>
              </a:rPr>
              <a:t>Class 0 (1551)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6675120" y="2084832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A0"/>
                </a:solidFill>
              </a:rPr>
              <a:t>0.867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7296912" y="2084832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A0"/>
                </a:solidFill>
              </a:rPr>
              <a:t>0.770</a:t>
            </a:r>
            <a:endParaRPr lang="en-US" sz="850" dirty="0"/>
          </a:p>
        </p:txBody>
      </p:sp>
      <p:sp>
        <p:nvSpPr>
          <p:cNvPr id="64" name="Text 62"/>
          <p:cNvSpPr/>
          <p:nvPr/>
        </p:nvSpPr>
        <p:spPr>
          <a:xfrm>
            <a:off x="7918704" y="2084832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A0"/>
                </a:solidFill>
              </a:rPr>
              <a:t>0.816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943600" y="2487168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89320" y="2560320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</a:rPr>
              <a:t>Class 1 (174)</a:t>
            </a:r>
            <a:endParaRPr lang="en-US" sz="850" dirty="0"/>
          </a:p>
        </p:txBody>
      </p:sp>
      <p:sp>
        <p:nvSpPr>
          <p:cNvPr id="67" name="Text 65"/>
          <p:cNvSpPr/>
          <p:nvPr/>
        </p:nvSpPr>
        <p:spPr>
          <a:xfrm>
            <a:off x="6675120" y="256032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6B"/>
                </a:solidFill>
              </a:rPr>
              <a:t>0.295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7296912" y="256032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800"/>
                </a:solidFill>
              </a:rPr>
              <a:t>0.310</a:t>
            </a:r>
            <a:endParaRPr lang="en-US" sz="850" dirty="0"/>
          </a:p>
        </p:txBody>
      </p:sp>
      <p:sp>
        <p:nvSpPr>
          <p:cNvPr id="69" name="Text 67"/>
          <p:cNvSpPr/>
          <p:nvPr/>
        </p:nvSpPr>
        <p:spPr>
          <a:xfrm>
            <a:off x="7918704" y="2560320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800"/>
                </a:solidFill>
              </a:rPr>
              <a:t>0.302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5943600" y="2962656"/>
            <a:ext cx="2743200" cy="411480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989320" y="3035808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</a:rPr>
              <a:t>Class 2 (236)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6675120" y="3035808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800"/>
                </a:solidFill>
              </a:rPr>
              <a:t>0.331</a:t>
            </a:r>
            <a:endParaRPr lang="en-US" sz="850" dirty="0"/>
          </a:p>
        </p:txBody>
      </p:sp>
      <p:sp>
        <p:nvSpPr>
          <p:cNvPr id="73" name="Text 71"/>
          <p:cNvSpPr/>
          <p:nvPr/>
        </p:nvSpPr>
        <p:spPr>
          <a:xfrm>
            <a:off x="7296912" y="3035808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E5A0"/>
                </a:solidFill>
              </a:rPr>
              <a:t>0.506</a:t>
            </a:r>
            <a:endParaRPr lang="en-US" sz="850" dirty="0"/>
          </a:p>
        </p:txBody>
      </p:sp>
      <p:sp>
        <p:nvSpPr>
          <p:cNvPr id="74" name="Text 72"/>
          <p:cNvSpPr/>
          <p:nvPr/>
        </p:nvSpPr>
        <p:spPr>
          <a:xfrm>
            <a:off x="7918704" y="3035808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800"/>
                </a:solidFill>
              </a:rPr>
              <a:t>0.400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5943600" y="3438144"/>
            <a:ext cx="2743200" cy="4114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89320" y="3511296"/>
            <a:ext cx="13716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6B6B"/>
                </a:solidFill>
              </a:rPr>
              <a:t>Class 3 (170)</a:t>
            </a:r>
            <a:endParaRPr lang="en-US" sz="850" dirty="0"/>
          </a:p>
        </p:txBody>
      </p:sp>
      <p:sp>
        <p:nvSpPr>
          <p:cNvPr id="77" name="Text 75"/>
          <p:cNvSpPr/>
          <p:nvPr/>
        </p:nvSpPr>
        <p:spPr>
          <a:xfrm>
            <a:off x="6675120" y="3511296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6B6B"/>
                </a:solidFill>
              </a:rPr>
              <a:t>0.275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7296912" y="3511296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800"/>
                </a:solidFill>
              </a:rPr>
              <a:t>0.339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7918704" y="3511296"/>
            <a:ext cx="5943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B800"/>
                </a:solidFill>
              </a:rPr>
              <a:t>0.304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5989320" y="3959352"/>
            <a:ext cx="265176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E7F9A"/>
                </a:solidFill>
              </a:rPr>
              <a:t>Accuracy: 0.6695  •  Val samples: 711</a:t>
            </a:r>
            <a:endParaRPr lang="en-US" sz="850" dirty="0"/>
          </a:p>
        </p:txBody>
      </p:sp>
      <p:sp>
        <p:nvSpPr>
          <p:cNvPr id="82" name="Text 40"/>
          <p:cNvSpPr/>
          <p:nvPr/>
        </p:nvSpPr>
        <p:spPr>
          <a:xfrm>
            <a:off x="478803" y="3268518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chemeClr val="bg1"/>
                </a:solidFill>
              </a:rPr>
              <a:t>#7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3" name="Text 41"/>
          <p:cNvSpPr/>
          <p:nvPr/>
        </p:nvSpPr>
        <p:spPr>
          <a:xfrm>
            <a:off x="963435" y="3268518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Deep MLP</a:t>
            </a:r>
            <a:endParaRPr lang="en-US" sz="1000" dirty="0"/>
          </a:p>
          <a:p>
            <a:pPr marL="0" indent="0">
              <a:buNone/>
            </a:pP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4" name="Text 42"/>
          <p:cNvSpPr/>
          <p:nvPr/>
        </p:nvSpPr>
        <p:spPr>
          <a:xfrm>
            <a:off x="3295155" y="3268518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chemeClr val="bg1"/>
                </a:solidFill>
              </a:rPr>
              <a:t>0.1207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5" name="Text 40"/>
          <p:cNvSpPr/>
          <p:nvPr/>
        </p:nvSpPr>
        <p:spPr>
          <a:xfrm>
            <a:off x="488742" y="3626322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chemeClr val="bg1"/>
                </a:solidFill>
              </a:rPr>
              <a:t>#8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6" name="Text 41"/>
          <p:cNvSpPr/>
          <p:nvPr/>
        </p:nvSpPr>
        <p:spPr>
          <a:xfrm>
            <a:off x="973374" y="362632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CNN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7" name="Text 42"/>
          <p:cNvSpPr/>
          <p:nvPr/>
        </p:nvSpPr>
        <p:spPr>
          <a:xfrm>
            <a:off x="3305094" y="3626322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chemeClr val="bg1"/>
                </a:solidFill>
              </a:rPr>
              <a:t>0.1207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88" name="Text 40"/>
          <p:cNvSpPr/>
          <p:nvPr/>
        </p:nvSpPr>
        <p:spPr>
          <a:xfrm>
            <a:off x="498681" y="3984126"/>
            <a:ext cx="457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smtClean="0">
                <a:solidFill>
                  <a:schemeClr val="bg1"/>
                </a:solidFill>
              </a:rPr>
              <a:t>#9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89" name="Text 41"/>
          <p:cNvSpPr/>
          <p:nvPr/>
        </p:nvSpPr>
        <p:spPr>
          <a:xfrm>
            <a:off x="983313" y="3984126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FFFFFF"/>
                </a:solidFill>
              </a:rPr>
              <a:t>Bi-LSTM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90" name="Text 42"/>
          <p:cNvSpPr/>
          <p:nvPr/>
        </p:nvSpPr>
        <p:spPr>
          <a:xfrm>
            <a:off x="3315033" y="3984126"/>
            <a:ext cx="1371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 smtClean="0">
                <a:solidFill>
                  <a:schemeClr val="bg1"/>
                </a:solidFill>
              </a:rPr>
              <a:t>070.04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Confusion Matrices — Top </a:t>
            </a:r>
            <a:r>
              <a:rPr lang="en-US" sz="26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114800" cy="4206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777240"/>
            <a:ext cx="4114800" cy="4206240"/>
          </a:xfrm>
          <a:prstGeom prst="rect">
            <a:avLst/>
          </a:prstGeom>
          <a:solidFill>
            <a:srgbClr val="1A2F45"/>
          </a:solidFill>
          <a:ln w="1270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90" name="Text 88"/>
          <p:cNvSpPr/>
          <p:nvPr/>
        </p:nvSpPr>
        <p:spPr>
          <a:xfrm>
            <a:off x="365760" y="4828032"/>
            <a:ext cx="8412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617" y="1090486"/>
            <a:ext cx="3899645" cy="33126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9106" y="1117902"/>
            <a:ext cx="3966348" cy="32851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22960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Model Performance Comparison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920240" y="685800"/>
            <a:ext cx="9144" cy="4142232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91640" y="502920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F9A"/>
                </a:solidFill>
              </a:rPr>
              <a:t>0.0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163824" y="685800"/>
            <a:ext cx="9144" cy="4142232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35224" y="502920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F9A"/>
                </a:solidFill>
              </a:rPr>
              <a:t>0.1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407408" y="685800"/>
            <a:ext cx="9144" cy="4142232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78808" y="502920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F9A"/>
                </a:solidFill>
              </a:rPr>
              <a:t>0.2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5650992" y="685800"/>
            <a:ext cx="9144" cy="4142232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22392" y="502920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F9A"/>
                </a:solidFill>
              </a:rPr>
              <a:t>0.3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894576" y="685800"/>
            <a:ext cx="9144" cy="4142232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65976" y="502920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F9A"/>
                </a:solidFill>
              </a:rPr>
              <a:t>0.4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138160" y="685800"/>
            <a:ext cx="9144" cy="4142232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09560" y="502920"/>
            <a:ext cx="4572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E7F9A"/>
                </a:solidFill>
              </a:rPr>
              <a:t>0.5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822960"/>
            <a:ext cx="8503920" cy="29718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877824"/>
            <a:ext cx="320040" cy="20116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87782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E7F9A"/>
                </a:solidFill>
              </a:rPr>
              <a:t>ML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685800" y="822960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LR (C=1)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20240" y="886968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20240" y="886968"/>
            <a:ext cx="5665769" cy="169164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50017" y="822960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E5A0"/>
                </a:solidFill>
              </a:rPr>
              <a:t>0.4556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040" y="1218948"/>
            <a:ext cx="320040" cy="20116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121894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E7F9A"/>
                </a:solidFill>
              </a:rPr>
              <a:t>ML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685800" y="1164084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Linear SVM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920240" y="1228092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20240" y="1228092"/>
            <a:ext cx="5306373" cy="1691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90621" y="1164084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C2FF"/>
                </a:solidFill>
              </a:rPr>
              <a:t>0.4267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1552704"/>
            <a:ext cx="320040" cy="20116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155270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E7F9A"/>
                </a:solidFill>
              </a:rPr>
              <a:t>ML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685800" y="1497840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LightGBM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920240" y="1561848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920240" y="1561848"/>
            <a:ext cx="5040246" cy="1691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24494" y="1497840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00"/>
                </a:solidFill>
              </a:rPr>
              <a:t>0.4053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0040" y="1886460"/>
            <a:ext cx="320040" cy="20116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188646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E7F9A"/>
                </a:solidFill>
              </a:rPr>
              <a:t>ML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85800" y="1831596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XGBoost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920240" y="1895604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20240" y="1895604"/>
            <a:ext cx="3760598" cy="169164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744846" y="1831596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B800"/>
                </a:solidFill>
              </a:rPr>
              <a:t>0.3024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20040" y="2220216"/>
            <a:ext cx="320040" cy="20116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20040" y="2220216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E7F9A"/>
                </a:solidFill>
              </a:rPr>
              <a:t>ML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685800" y="2165352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Complement NB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1920240" y="2229360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920240" y="2229360"/>
            <a:ext cx="3690957" cy="169164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675205" y="2165352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F9A"/>
                </a:solidFill>
              </a:rPr>
              <a:t>0.2968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320040" y="2553972"/>
            <a:ext cx="320040" cy="20116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0040" y="2553972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5E7F9A"/>
                </a:solidFill>
              </a:rPr>
              <a:t>ML</a:t>
            </a:r>
            <a:endParaRPr lang="en-US" sz="700" dirty="0"/>
          </a:p>
        </p:txBody>
      </p:sp>
      <p:sp>
        <p:nvSpPr>
          <p:cNvPr id="68" name="Text 66"/>
          <p:cNvSpPr/>
          <p:nvPr/>
        </p:nvSpPr>
        <p:spPr>
          <a:xfrm>
            <a:off x="685800" y="2499108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Random Forest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1920240" y="2563116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920240" y="2563116"/>
            <a:ext cx="2728423" cy="169164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712671" y="2499108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E7F9A"/>
                </a:solidFill>
              </a:rPr>
              <a:t>0.2194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20040" y="2887728"/>
            <a:ext cx="320040" cy="20116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" y="2887728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DL</a:t>
            </a:r>
            <a:endParaRPr lang="en-US" sz="700" dirty="0"/>
          </a:p>
        </p:txBody>
      </p:sp>
      <p:sp>
        <p:nvSpPr>
          <p:cNvPr id="74" name="Text 72"/>
          <p:cNvSpPr/>
          <p:nvPr/>
        </p:nvSpPr>
        <p:spPr>
          <a:xfrm>
            <a:off x="685800" y="2832864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Deep MLP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1920240" y="2896872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920240" y="2896872"/>
            <a:ext cx="2620231" cy="169164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04479" y="2832864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72FF"/>
                </a:solidFill>
              </a:rPr>
              <a:t>0.2107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0040" y="3221484"/>
            <a:ext cx="320040" cy="20116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20040" y="3221484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DL</a:t>
            </a:r>
            <a:endParaRPr lang="en-US" sz="700" dirty="0"/>
          </a:p>
        </p:txBody>
      </p:sp>
      <p:sp>
        <p:nvSpPr>
          <p:cNvPr id="80" name="Text 78"/>
          <p:cNvSpPr/>
          <p:nvPr/>
        </p:nvSpPr>
        <p:spPr>
          <a:xfrm>
            <a:off x="685800" y="3166620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1D CNN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920240" y="3230628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920240" y="3230628"/>
            <a:ext cx="2620231" cy="169164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04479" y="3166620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72FF"/>
                </a:solidFill>
              </a:rPr>
              <a:t>0.2107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320040" y="3555240"/>
            <a:ext cx="320040" cy="20116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320040" y="3555240"/>
            <a:ext cx="320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DL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736092" y="3505545"/>
            <a:ext cx="118872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Bi-LSTM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1920240" y="3564384"/>
            <a:ext cx="6217920" cy="169164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920240" y="3564384"/>
            <a:ext cx="506139" cy="1691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490387" y="3530193"/>
            <a:ext cx="640080" cy="2971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6B6B"/>
                </a:solidFill>
              </a:rPr>
              <a:t>0.0407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20040" y="4818888"/>
            <a:ext cx="8503920" cy="246888"/>
          </a:xfrm>
          <a:prstGeom prst="rect">
            <a:avLst/>
          </a:prstGeom>
          <a:solidFill>
            <a:srgbClr val="112030"/>
          </a:solidFill>
          <a:ln w="12700">
            <a:solidFill>
              <a:srgbClr val="11203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384048" y="4855464"/>
            <a:ext cx="320040" cy="164592"/>
          </a:xfrm>
          <a:prstGeom prst="rect">
            <a:avLst/>
          </a:prstGeom>
          <a:solidFill>
            <a:srgbClr val="5E7F9A"/>
          </a:solidFill>
          <a:ln w="12700">
            <a:solidFill>
              <a:srgbClr val="5E7F9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384048" y="48554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0D1B2A"/>
                </a:solidFill>
              </a:rPr>
              <a:t>ML</a:t>
            </a:r>
            <a:endParaRPr lang="en-US" sz="700" dirty="0"/>
          </a:p>
        </p:txBody>
      </p:sp>
      <p:sp>
        <p:nvSpPr>
          <p:cNvPr id="93" name="Text 91"/>
          <p:cNvSpPr/>
          <p:nvPr/>
        </p:nvSpPr>
        <p:spPr>
          <a:xfrm>
            <a:off x="749808" y="4837176"/>
            <a:ext cx="18288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F9A"/>
                </a:solidFill>
              </a:rPr>
              <a:t>= Machine Learning</a:t>
            </a:r>
            <a:endParaRPr lang="en-US" sz="800" dirty="0"/>
          </a:p>
        </p:txBody>
      </p:sp>
      <p:sp>
        <p:nvSpPr>
          <p:cNvPr id="94" name="Shape 92"/>
          <p:cNvSpPr/>
          <p:nvPr/>
        </p:nvSpPr>
        <p:spPr>
          <a:xfrm>
            <a:off x="2926080" y="4855464"/>
            <a:ext cx="320040" cy="164592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2926080" y="4855464"/>
            <a:ext cx="32004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DL</a:t>
            </a:r>
            <a:endParaRPr lang="en-US" sz="700" dirty="0"/>
          </a:p>
        </p:txBody>
      </p:sp>
      <p:sp>
        <p:nvSpPr>
          <p:cNvPr id="96" name="Text 94"/>
          <p:cNvSpPr/>
          <p:nvPr/>
        </p:nvSpPr>
        <p:spPr>
          <a:xfrm>
            <a:off x="3291840" y="4837176"/>
            <a:ext cx="5486400" cy="20116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E7F9A"/>
                </a:solidFill>
              </a:rPr>
              <a:t>= Deep Learning  •  DL models significantly underperformed ML — likely due to small dataset size (2,131 samples)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42233"/>
          </a:solidFill>
          <a:ln w="12700">
            <a:solidFill>
              <a:srgbClr val="1422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474720" y="0"/>
            <a:ext cx="45720" cy="5143500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74320"/>
            <a:ext cx="292608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Summary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804672"/>
            <a:ext cx="2926080" cy="30175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20040" y="1765581"/>
            <a:ext cx="2834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00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0.4556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241069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ADE"/>
                </a:solidFill>
              </a:rPr>
              <a:t>Best Macro F1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ADE"/>
                </a:solidFill>
              </a:rPr>
              <a:t>(LR C=1)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679981"/>
            <a:ext cx="2834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800"/>
                </a:solidFill>
                <a:latin typeface="Arial Black" panose="020B0A04020102020204" pitchFamily="34" charset="0"/>
              </a:rPr>
              <a:t>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20040" y="3155469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CADE"/>
                </a:solidFill>
              </a:rPr>
              <a:t>Total Models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CADE"/>
                </a:solidFill>
              </a:rPr>
              <a:t>Trained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3127248"/>
            <a:ext cx="2834640" cy="47548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20040" y="3602736"/>
            <a:ext cx="2834640" cy="34747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01168"/>
            <a:ext cx="50292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Key Findings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49040" y="713232"/>
            <a:ext cx="5074920" cy="621792"/>
          </a:xfrm>
          <a:prstGeom prst="rect">
            <a:avLst/>
          </a:prstGeom>
          <a:solidFill>
            <a:srgbClr val="1A2F45"/>
          </a:solidFill>
          <a:ln w="8890">
            <a:solidFill>
              <a:srgbClr val="00E5A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0" y="713232"/>
            <a:ext cx="64008" cy="621792"/>
          </a:xfrm>
          <a:prstGeom prst="rect">
            <a:avLst/>
          </a:prstGeom>
          <a:solidFill>
            <a:srgbClr val="00E5A0"/>
          </a:solidFill>
          <a:ln w="12700">
            <a:solidFill>
              <a:srgbClr val="00E5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58768" y="713232"/>
            <a:ext cx="34747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A0"/>
                </a:solidFill>
              </a:rPr>
              <a:t>✓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24528" y="713232"/>
            <a:ext cx="448056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LR (C=1) topped all 12 models at F1=0.4556 — simpler regularization helped generalize to minority classes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426464"/>
            <a:ext cx="5074920" cy="621792"/>
          </a:xfrm>
          <a:prstGeom prst="rect">
            <a:avLst/>
          </a:prstGeom>
          <a:solidFill>
            <a:srgbClr val="1A2F45"/>
          </a:solidFill>
          <a:ln w="8890">
            <a:solidFill>
              <a:srgbClr val="00C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426464"/>
            <a:ext cx="64008" cy="62179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58768" y="1426464"/>
            <a:ext cx="34747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FF"/>
                </a:solidFill>
              </a:rPr>
              <a:t>✓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24528" y="1426464"/>
            <a:ext cx="448056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Dual TF-IDF (word + char n-grams, 35K features) was critical for capturing linguistic patterns in social posts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749040" y="2139696"/>
            <a:ext cx="5074920" cy="621792"/>
          </a:xfrm>
          <a:prstGeom prst="rect">
            <a:avLst/>
          </a:prstGeom>
          <a:solidFill>
            <a:srgbClr val="1A2F45"/>
          </a:solidFill>
          <a:ln w="8890">
            <a:solidFill>
              <a:srgbClr val="FFB800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0" y="2139696"/>
            <a:ext cx="64008" cy="621792"/>
          </a:xfrm>
          <a:prstGeom prst="rect">
            <a:avLst/>
          </a:prstGeom>
          <a:solidFill>
            <a:srgbClr val="FFB800"/>
          </a:solidFill>
          <a:ln w="12700">
            <a:solidFill>
              <a:srgbClr val="FFB8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58768" y="2139696"/>
            <a:ext cx="34747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800"/>
                </a:solidFill>
              </a:rPr>
              <a:t>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24528" y="2139696"/>
            <a:ext cx="448056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Ensemble LR (soft vote) ranked #3 — still useful backup but didn't beat individual best this run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749040" y="2852928"/>
            <a:ext cx="5074920" cy="621792"/>
          </a:xfrm>
          <a:prstGeom prst="rect">
            <a:avLst/>
          </a:prstGeom>
          <a:solidFill>
            <a:srgbClr val="1A2F45"/>
          </a:solidFill>
          <a:ln w="8890">
            <a:solidFill>
              <a:srgbClr val="FF6B6B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49040" y="2852928"/>
            <a:ext cx="64008" cy="6217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58768" y="2852928"/>
            <a:ext cx="34747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⚠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24528" y="2852928"/>
            <a:ext cx="448056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All DL models collapsed or near-collapsed — small training set (2,131) is insufficient for embedding-based models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749040" y="3566160"/>
            <a:ext cx="5074920" cy="621792"/>
          </a:xfrm>
          <a:prstGeom prst="rect">
            <a:avLst/>
          </a:prstGeom>
          <a:solidFill>
            <a:srgbClr val="1A2F45"/>
          </a:solidFill>
          <a:ln w="8890">
            <a:solidFill>
              <a:srgbClr val="FF6B6B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49040" y="3566160"/>
            <a:ext cx="64008" cy="62179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58768" y="3566160"/>
            <a:ext cx="34747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⚠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24528" y="3566160"/>
            <a:ext cx="448056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Severe class imbalance (72.8% label 0) — balanced class weights partially helped but minority F1 stayed low (~0.30)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749040" y="4279392"/>
            <a:ext cx="5074920" cy="621792"/>
          </a:xfrm>
          <a:prstGeom prst="rect">
            <a:avLst/>
          </a:prstGeom>
          <a:solidFill>
            <a:srgbClr val="1A2F45"/>
          </a:solidFill>
          <a:ln w="8890">
            <a:solidFill>
              <a:srgbClr val="9B72FF"/>
            </a:solidFill>
            <a:prstDash val="solid"/>
          </a:ln>
          <a:effectLst>
            <a:outerShdw blurRad="88900" dist="381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749040" y="4279392"/>
            <a:ext cx="64008" cy="621792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858768" y="4279392"/>
            <a:ext cx="347472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72FF"/>
                </a:solidFill>
              </a:rPr>
              <a:t>→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4224528" y="4279392"/>
            <a:ext cx="4480560" cy="621792"/>
          </a:xfrm>
          <a:prstGeom prst="rect">
            <a:avLst/>
          </a:prstGeom>
          <a:noFill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CADE"/>
                </a:solidFill>
              </a:rPr>
              <a:t>Future improvements</a:t>
            </a:r>
            <a:r>
              <a:rPr lang="en-US" sz="900" dirty="0" smtClean="0">
                <a:solidFill>
                  <a:srgbClr val="B0CADE"/>
                </a:solidFill>
              </a:rPr>
              <a:t>: </a:t>
            </a:r>
            <a:r>
              <a:rPr lang="en-US" sz="900" dirty="0">
                <a:solidFill>
                  <a:srgbClr val="B0CADE"/>
                </a:solidFill>
              </a:rPr>
              <a:t>pre-trained embeddings (BERT), larger DL dataset or transfer learning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9B72FF"/>
          </a:solidFill>
          <a:ln w="12700">
            <a:solidFill>
              <a:srgbClr val="9B7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182880"/>
            <a:ext cx="3840480" cy="4114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3000" dirty="0"/>
          </a:p>
        </p:txBody>
      </p:sp>
      <p:sp>
        <p:nvSpPr>
          <p:cNvPr id="7" name="Text 5"/>
          <p:cNvSpPr/>
          <p:nvPr/>
        </p:nvSpPr>
        <p:spPr>
          <a:xfrm>
            <a:off x="1620078" y="2183130"/>
            <a:ext cx="5903843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 smtClean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4010</Words>
  <Application>WPS Presentation</Application>
  <PresentationFormat/>
  <Paragraphs>557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Anosha Syed</cp:lastModifiedBy>
  <cp:revision>1</cp:revision>
  <dcterms:created xsi:type="dcterms:W3CDTF">2026-04-13T08:18:22Z</dcterms:created>
  <dcterms:modified xsi:type="dcterms:W3CDTF">2026-04-13T08:18:22Z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AC2D163E988C4A82A175D4E2ED311652_13</vt:lpwstr>
  </property>
  <property fmtid="{D5CDD505-2E9C-101B-9397-08002B2CF9AE}" pid="3" name="KSOProductBuildVer">
    <vt:lpwstr>1033-12.1.0.25242</vt:lpwstr>
  </property>
</Properties>
</file>